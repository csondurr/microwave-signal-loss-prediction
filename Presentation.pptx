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Signal Loss Prediction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Ahead Forecasting with Multiple Linear Regression (MLR)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Prepared by: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Sondur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Hourly Simulation  |  </a:t>
            </a:r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Duration: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 Year (8760 hours)  |  </a:t>
            </a:r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Features: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  |  </a:t>
            </a:r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Language: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548640" cy="5486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" y="1490472"/>
            <a:ext cx="54864" cy="256032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868680"/>
            <a:ext cx="78638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868680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9052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1795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8760-hour ARIMA-based simulation: Rain, Temperature, Wind, and a realistic signal loss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548640" cy="5486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" y="2340864"/>
            <a:ext cx="54864" cy="256032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719072"/>
            <a:ext cx="78638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719072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029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Loss_Lag1 and Rain_Lag1 → time series structure for one-step ahead prediction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642616"/>
            <a:ext cx="548640" cy="5486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" y="3191256"/>
            <a:ext cx="54864" cy="256032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569464"/>
            <a:ext cx="78638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2569464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606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2880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MLR: lm() function, 5 independent variables, 80%/20% train/test split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548640" cy="5486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" y="4041648"/>
            <a:ext cx="54864" cy="256032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419856"/>
            <a:ext cx="78638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419856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456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7307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validation with 5 plots: Actual vs Predicted, Residual analysis, Q-Q, Time, Coefficients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548640" cy="5486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" y="4270248"/>
            <a:ext cx="786384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270248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306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" y="45811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R²=72.83%, MAE=0.2947 dB, RMSE=0.3695 dB, MAPE=1.41% → Operational success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Background: Multiple Linear Regression (MLR)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 =  β₀  +  β₁·Rain  +  β₂·Temp  +  β₃·Wind  +  β₄·Rain_Lag1  +  β₅·Loss_Lag1  +  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10512"/>
            <a:ext cx="2788920" cy="310896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10512"/>
            <a:ext cx="278892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10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β Coefficients?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4942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β₀: Constant term (intercept) — the expected loss value when all variables equal 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7238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β₁...β₅: The independent effect of each feature — how many dB the loss changes for a 1-unit increase while other variables are held constant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9534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OLS (Ordinary Least Squares) method, β values are estimated so as to minimize the sum of squared residuals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1810512"/>
            <a:ext cx="2788920" cy="310896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810512"/>
            <a:ext cx="278892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10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Ahead Forecasting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4408" y="2286000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24942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Next_Loss value at time t+1 using information available at time 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3108960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7238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Loss_Lag1 = Loss(t-1), Rain_Lag1 = Rain(t-1) → carries past information into the model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64408" y="3931920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89534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turns classic MLR into a time series forecaster — the past instant is used to predict the future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1810512"/>
            <a:ext cx="2788920" cy="310896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1810512"/>
            <a:ext cx="27889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810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Assumptions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3056" y="228600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224942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Linearity: There is a linear relationship between the dependent and independent variables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310896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307238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Normality: Residuals (ε) should be normally distributed → tested with Q-Q plot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393192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895344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Homoscedasticity: Variance of residuals should be constant → verified with Residuals over time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Simulation Design and Physical Model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804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804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Range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530352"/>
          </a:xfrm>
          <a:prstGeom prst="rect">
            <a:avLst/>
          </a:prstGeom>
          <a:solidFill>
            <a:srgbClr val="E8F4F8"/>
          </a:solidFill>
          <a:ln w="3810">
            <a:solidFill>
              <a:srgbClr val="8DAE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45920" y="11887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ARIMA(ar=0.98) × season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11887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mm/h, ≥0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8DA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55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45920" y="1755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(annual+daily) + noise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1755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°C, ~17–33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4114800" cy="530352"/>
          </a:xfrm>
          <a:prstGeom prst="rect">
            <a:avLst/>
          </a:prstGeom>
          <a:solidFill>
            <a:srgbClr val="E8F4F8"/>
          </a:solidFill>
          <a:ln w="3810">
            <a:solidFill>
              <a:srgbClr val="8DAE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225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45920" y="23225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ARIMA(ar=0.95) + constant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0" y="23225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m/s, ≥0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8DA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95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Loss_Lag1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45920" y="28895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hour's Loss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28895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4114800" cy="530352"/>
          </a:xfrm>
          <a:prstGeom prst="rect">
            <a:avLst/>
          </a:prstGeom>
          <a:solidFill>
            <a:srgbClr val="E8F4F8"/>
          </a:solidFill>
          <a:ln w="3810">
            <a:solidFill>
              <a:srgbClr val="8DAE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564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Rain_Lag1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34564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hour's Rain value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34564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804672"/>
            <a:ext cx="42062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Signal loss physical model (ITU-R based)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115214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signal_loss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&lt;- 20 +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(0.00454*(rain^1.353)*10)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(0.0003*temp) + (0.05*wind)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+ rnorm(N, 0, 0.3)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340864"/>
            <a:ext cx="420624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35915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ITU-R formula?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262432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Telecommunication Union's rain attenuation model — the rain^1.353 exponential effect represents real physical behavior.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182112"/>
            <a:ext cx="4206240" cy="41148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20040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 Strategy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2999232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59359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80% → 7007 hours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62672" y="3593592"/>
            <a:ext cx="1207008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359359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20% → 1751 hours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4169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order preserved — no random shuffling (time series integrity)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 — Step 1: Data Generation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4069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77824"/>
            <a:ext cx="5084064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  # Reproducibility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 </a:t>
            </a:r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&lt;-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8760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365 days × 24 hours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Rain: autocorrelated + seasonal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rain_rate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abs(arima.sim(list(ar=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n=N))*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+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*sin(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*pi*day_of_year/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- pi/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Temperature: annual + daily sine + noise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temp </a:t>
            </a:r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&lt;-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+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*sin(...) +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*sin(...) + rnorm(N,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Signal loss (ITU-R model)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signal_loss </a:t>
            </a:r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&lt;-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0.00454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*(rain_rate^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1.353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)*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0.0003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*temp) + (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*wind)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rnorm(N,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±0.3 dB measurement noise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804672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04672"/>
            <a:ext cx="6400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8736" y="8412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88736" y="10789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random number generator. The same data is produced on every run — results are reproducible.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609344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609344"/>
            <a:ext cx="6400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16459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arima.sim(ar=0.98)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88736" y="188366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coefficient 0.98 → rain shows 'persistence'. Mimics the autocorrelation in real weather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414016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414016"/>
            <a:ext cx="6400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245059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sin(2π × day/365)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88736" y="2688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seasonality: low rain in winter, high in summer. Temperature is modeled with a sine wave in the same 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218688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218688"/>
            <a:ext cx="6400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32552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rain^1.353 exponential effect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88736" y="349300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ITU-R P.838 standard. As rain intensity rises, signal loss increases exponentially, not linearly.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4023360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4023360"/>
            <a:ext cx="6400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8736" y="40599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rnorm(N, 0, 0.3)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88736" y="429768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 dB measurement noise added. Represents sensor uncertainty in real systems.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 — Steps 2 &amp; 3: Model Setup and Metric Computation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4069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59536"/>
            <a:ext cx="5084064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Lag features (one-step ahead)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mw_data$Loss_Lag1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c(NA, mw_data$Loss[-N])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mw_data$Rain_Lag1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c(NA, mw_data$Rain[-N])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mw_data$Next_Loss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c(mw_data$Loss[-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NA)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mw_data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na.omit(mw_data)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/ Test split (80%-20%)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split_idx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floor(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* nrow(mw_data))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train_data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mw_data[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:split_idx, ]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test_data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mw_data[(split_idx+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):nrow(mw_data), ]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MLR model — 5 features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model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lm(Next_Loss ~ Rain + Temp + Wind +
         Rain_Lag1 + Loss_Lag1, data = train_data)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 metrics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Residuals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Predicted - Actual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R2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&lt;- 1 - sum(Residuals^2) / sum((Actual - mean(Actual))^2)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MAE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mean(abs(Residuals))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MAPE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mean(abs(Residuals / Actual)) * 100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804672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04672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8736" y="8412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c(NA, Loss[-N])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88736" y="10789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vector one step to the left. Writes the value at time t into row t-1 → lag feature.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609344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609344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16459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Next_Loss target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88736" y="188366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c(Loss[-1], NA): a one-step forward shift. Stores t+1's loss as the target in the row at time 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414016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414016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245059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na.omit()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88736" y="2688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Loss_Lag1=NA in the first row, Next_Loss=NA in the last. Removes these two rows from the dataset.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218688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218688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32552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lm() function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88736" y="349300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R's core OLS (Ordinary Least Squares) regression function. Computes coefficients analytically — no iteration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4023360"/>
            <a:ext cx="320040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4023360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8736" y="40599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formula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88736" y="429768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(SS_res / SS_tot). Close to 1 means the model explains variance well; close to 0 means it's no better than the mean.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1: Actual vs Predicted Loss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50292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474720" cy="932688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0" y="804672"/>
            <a:ext cx="64008" cy="9326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14416" y="84124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Reference 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14416" y="113385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dashed line marks a perfect prediction. Points above this line mean the model is underestimating.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828800"/>
            <a:ext cx="3474720" cy="932688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1828800"/>
            <a:ext cx="64008" cy="9326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14416" y="1865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Point Band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14416" y="215798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cluster within ±0.5 dB of the actual values. Low scatter → the model is consistent.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852928"/>
            <a:ext cx="3474720" cy="932688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2852928"/>
            <a:ext cx="64008" cy="9326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288950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Underestimation (23–24 dB)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14416" y="3182112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heavy rain spikes the model lags behind. Because Loss_Lag1 uses the previous instant, it cannot capture sudden changes.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877056"/>
            <a:ext cx="3474720" cy="932688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3877056"/>
            <a:ext cx="64008" cy="9326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391363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14416" y="420624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relationship is strong and monotonic. R²=72.83% is fully consistent with this visual 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2 &amp; 3: Residual Distribution and Normality Test (Q-Q)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206240" cy="3108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206240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977640"/>
            <a:ext cx="4206240" cy="91440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Interpretation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0040" y="4261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centered around 0 with a bell-curve-like shape. There is slight right skew (positive rain spikes). MLR's normality assumption is largely met. The red line shows the median is close to 0.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54880" y="3977640"/>
            <a:ext cx="4206240" cy="91440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9204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Interpretation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92040" y="4261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hug the reference line almost perfectly → residuals are normally distributed. In the left tail (around −3) 4–5 points fall below the line: a slight heavy-tail in extreme negative residuals. Conclusion: the normality assumption is VALID.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4: Residuals Over Time — MLR Assumption Check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59436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804672"/>
            <a:ext cx="256032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841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Around Zero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11338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fluctuate around the 0 line with no systematic direction. The model is unbiased.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0" y="1901952"/>
            <a:ext cx="256032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Homoscedasticity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0" y="22311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is constant over time. Start and end have similar spread → MLR assumption satisfied.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2999232"/>
            <a:ext cx="256032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Autocorrelation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33284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periodic pattern is visible. Residuals are independent → the model isn't missing any structural feature.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4096512"/>
            <a:ext cx="256032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±1 dB Overshoot Points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44256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grow on sudden rain spikes. Due to the lag structure, the model can fall behind.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plot visually confirms MLR's 3 core assumptions (normality, independence, constant variance).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5: Feature Coefficients and Multicollinearity Analysis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8463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804672"/>
            <a:ext cx="3749040" cy="960120"/>
          </a:xfrm>
          <a:prstGeom prst="rect">
            <a:avLst/>
          </a:prstGeom>
          <a:solidFill>
            <a:srgbClr val="E8F4F8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21808" y="8229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Loss_Lag1 → β ≈ +0.17 (Dominant)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21808" y="1106424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loss changes very slowly. The loss one hour earlier is the strongest predictor of the current loss. Principle of physical continuity.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12080" y="1874520"/>
            <a:ext cx="374904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1808" y="1892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Rain → β ≈ +0.13 (Second Most Important)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21808" y="2176272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rain directly affects the microwave signal. Because the data was generated via the ITU-R model, the coefficient is significant and positive.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212080" y="2944368"/>
            <a:ext cx="3749040" cy="14173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29626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Rain_Lag1 → Negative Coefficient — Why?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21808" y="3255264"/>
            <a:ext cx="3547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Multicollinearity: 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Rain_Lag1 are highly correlated (r≈0.98). OLS "goes astray" when distributing coefficients.
</a:t>
            </a:r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Information Overlap: 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Loss_Lag1 already contains the effect of past rain. To avoid double-counting, the model balances by pulling Rain_Lag1 negative.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2560320"/>
          </a:xfrm>
          <a:prstGeom prst="rect">
            <a:avLst/>
          </a:prstGeom>
          <a:solidFill>
            <a:srgbClr val="E8F4F8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72.83%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~¾ of the variability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1965960" cy="256032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822960"/>
            <a:ext cx="196596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41448" y="13898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0.2947 dB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&lt; 0.3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822960"/>
            <a:ext cx="1965960" cy="2560320"/>
          </a:xfrm>
          <a:prstGeom prst="rect">
            <a:avLst/>
          </a:prstGeom>
          <a:solidFill>
            <a:srgbClr val="E8F4F8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822960"/>
            <a:ext cx="1965960" cy="502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08576" y="13898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0.3695 dB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1728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MAE → few outliers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75704" y="822960"/>
            <a:ext cx="1965960" cy="2560320"/>
          </a:xfrm>
          <a:prstGeom prst="rect">
            <a:avLst/>
          </a:prstGeom>
          <a:solidFill>
            <a:srgbClr val="E8F4F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5704" y="822960"/>
            <a:ext cx="196596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75704" y="13898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885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48856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metric — excellent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38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Formulas and Interpretations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MAE = (1/n)Σ|yᵢ−ŷᵢ|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Mean absolute error; treats large and small errors with equal weight.
</a:t>
            </a:r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RMSE = √[(1/n)Σ(yᵢ−ŷᵢ)²]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Penalizes large errors more heavily. RMSE≈MAE implies no significant outliers.
</a:t>
            </a:r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MAPE = (100/n)Σ|yᵢ−ŷᵢ|/|yᵢ| 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Percentage error; a value of 1.41% is considered operationally excellent.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937760" cy="4069080"/>
          </a:xfrm>
          <a:prstGeom prst="rect">
            <a:avLst/>
          </a:prstGeom>
          <a:solidFill>
            <a:srgbClr val="E8F4F8"/>
          </a:solidFill>
          <a:ln w="6350">
            <a:solidFill>
              <a:srgbClr val="8DAE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93776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— What Did We Do?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9377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801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4752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hourly microwave signal loss 1 hour ahead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4937760" cy="420624"/>
          </a:xfrm>
          <a:prstGeom prst="rect">
            <a:avLst/>
          </a:prstGeom>
          <a:solidFill>
            <a:srgbClr val="E8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282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44752" y="1728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(MLR) — lm() — with 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57984"/>
            <a:ext cx="49377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62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44752" y="21762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8760-hour simulation; ARIMA-based rain, sinusoidal temperature, ITU-R loss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4937760" cy="420624"/>
          </a:xfrm>
          <a:prstGeom prst="rect">
            <a:avLst/>
          </a:prstGeom>
          <a:solidFill>
            <a:srgbClr val="E8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243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44752" y="2624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Temp, Wind + time series lags: Rain_Lag1, Loss_Lag1 (5 total)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49377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72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44752" y="3072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chronological training (7007 hours) / 20% test (1751 hours)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02152"/>
            <a:ext cx="4937760" cy="420624"/>
          </a:xfrm>
          <a:prstGeom prst="rect">
            <a:avLst/>
          </a:prstGeom>
          <a:solidFill>
            <a:srgbClr val="E8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520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44752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R²=72.83%, MAE=0.29 dB, RMSE=0.37 dB, MAPE=1.41% — Operational success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950208"/>
            <a:ext cx="49377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96849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Strength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44752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Loss_Lag1 is the dominant feature; Rain, Wind, and Temp provide meaningful contribution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398264"/>
            <a:ext cx="4937760" cy="420624"/>
          </a:xfrm>
          <a:prstGeom prst="rect">
            <a:avLst/>
          </a:prstGeom>
          <a:solidFill>
            <a:srgbClr val="E8F4F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4165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444752" y="4416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Rain_Lag1 has a negative coefficient: multicollinearity + information overlap detected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804672"/>
            <a:ext cx="356616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804672"/>
            <a:ext cx="356616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8046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Assumption Check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Normality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24928" y="12618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— satisfied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04688" y="16093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Homoscedasticity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24928" y="16093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over time — satisfied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04688" y="1956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Independence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24928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plot — satisfied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04688" y="2304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Multicollinearity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24928" y="2304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Rain_Lag1 — detected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94960" y="2834640"/>
            <a:ext cx="3566160" cy="2029968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2834640"/>
            <a:ext cx="35661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04688" y="2834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Improvement Suggestions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04688" y="327355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Simulated data: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Results may differ with real measurement data
</a:t>
            </a:r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Multicollinearity: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Can be quantified numerically with VIF analysis
</a:t>
            </a:r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model: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R² could be improved with ARIMA, Random Forest, or LSTM
</a:t>
            </a:r>
            <a:pPr indent="0" marL="0">
              <a:buNone/>
            </a:pPr>
            <a:r>
              <a:rPr lang="en-US" sz="1050" b="1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= 72%:</a:t>
            </a:r>
            <a:pPr indent="0" marL="0">
              <a:buNone/>
            </a:pPr>
            <a:r>
              <a:rPr lang="en-US" sz="1050" dirty="0">
                <a:solidFill>
                  <a:srgbClr val="7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Natural ceiling imposed by stochastic rain noise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097780"/>
            <a:ext cx="89611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474720" y="2084832"/>
            <a:ext cx="219456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Sondur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Microwave Signal Loss Prediction with MLR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3566160"/>
            <a:ext cx="14630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84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904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72.83%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3566160"/>
            <a:ext cx="14630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584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904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 dB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566160"/>
            <a:ext cx="14630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584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904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 dB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3566160"/>
            <a:ext cx="14630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84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904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ready for your questions.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2026-05-15T21:25:11Z</dcterms:created>
  <dcterms:modified xsi:type="dcterms:W3CDTF">2026-05-15T21:25:11Z</dcterms:modified>
</cp:coreProperties>
</file>